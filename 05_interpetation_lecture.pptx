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9" r:id="rId1"/>
  </p:sldMasterIdLst>
  <p:notesMasterIdLst>
    <p:notesMasterId r:id="rId37"/>
  </p:notesMasterIdLst>
  <p:sldIdLst>
    <p:sldId id="256" r:id="rId2"/>
    <p:sldId id="257" r:id="rId3"/>
    <p:sldId id="266" r:id="rId4"/>
    <p:sldId id="263" r:id="rId5"/>
    <p:sldId id="267" r:id="rId6"/>
    <p:sldId id="268" r:id="rId7"/>
    <p:sldId id="269" r:id="rId8"/>
    <p:sldId id="270" r:id="rId9"/>
    <p:sldId id="271" r:id="rId10"/>
    <p:sldId id="272" r:id="rId11"/>
    <p:sldId id="275" r:id="rId12"/>
    <p:sldId id="273" r:id="rId13"/>
    <p:sldId id="274" r:id="rId14"/>
    <p:sldId id="259" r:id="rId15"/>
    <p:sldId id="276" r:id="rId16"/>
    <p:sldId id="277" r:id="rId17"/>
    <p:sldId id="278" r:id="rId18"/>
    <p:sldId id="279" r:id="rId19"/>
    <p:sldId id="280" r:id="rId20"/>
    <p:sldId id="281" r:id="rId21"/>
    <p:sldId id="264" r:id="rId22"/>
    <p:sldId id="282" r:id="rId23"/>
    <p:sldId id="291" r:id="rId24"/>
    <p:sldId id="293" r:id="rId25"/>
    <p:sldId id="283" r:id="rId26"/>
    <p:sldId id="294" r:id="rId27"/>
    <p:sldId id="284" r:id="rId28"/>
    <p:sldId id="295" r:id="rId29"/>
    <p:sldId id="285" r:id="rId30"/>
    <p:sldId id="286" r:id="rId31"/>
    <p:sldId id="296" r:id="rId32"/>
    <p:sldId id="265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7" autoAdjust="0"/>
    <p:restoredTop sz="94639" autoAdjust="0"/>
  </p:normalViewPr>
  <p:slideViewPr>
    <p:cSldViewPr snapToGrid="0">
      <p:cViewPr varScale="1">
        <p:scale>
          <a:sx n="150" d="100"/>
          <a:sy n="150" d="100"/>
        </p:scale>
        <p:origin x="16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93EAF-DC25-42C5-ABFC-62E561CF7E82}" type="datetimeFigureOut">
              <a:rPr lang="ru-RU" smtClean="0"/>
              <a:t>04.03.2025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1257F-CD8F-4C29-8D70-909983AC1C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69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AD025-2554-4E45-88CE-7C8A2F9C0F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 i="0" u="none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defRPr>
            </a:lvl1pPr>
          </a:lstStyle>
          <a:p>
            <a:r>
              <a:rPr lang="ru-RU" dirty="0"/>
              <a:t>Нейросети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A0C396-20AE-2D2A-6D68-6136A6D60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abriola" panose="04040605051002020D02" pitchFamily="82" charset="0"/>
                <a:cs typeface="Aparajita" panose="020B05020402040202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  <a:p>
            <a:r>
              <a:rPr lang="en-US" dirty="0"/>
              <a:t>Second title example</a:t>
            </a:r>
            <a:endParaRPr lang="ru-RU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0401932-1444-78BD-A12D-9DD2CF092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8C4241B-6827-0E79-7BDB-F1F624CE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D920073-E3C7-EA94-6B73-2CCFB3B6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563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32352-CB9D-A4DD-DEEB-B39631B9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EB2DA0-F32A-512B-D2A0-6DAB2A9ED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815"/>
            <a:ext cx="10515600" cy="489914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447463-2B67-3E9D-37D7-0522E04A0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316014-3B18-A53B-2147-CDA5CAD0B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643C79-E082-12CA-B521-4ACD2CF2B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3266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7317F3-2ECE-AE55-160D-32346D6A3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36015"/>
            <a:ext cx="10515600" cy="15001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9E6715-49E9-7C26-6C09-18017FE90D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2549769"/>
            <a:ext cx="10515600" cy="3539882"/>
          </a:xfrm>
        </p:spPr>
        <p:txBody>
          <a:bodyPr>
            <a:normAutofit/>
          </a:bodyPr>
          <a:lstStyle>
            <a:lvl1pPr marL="457200" indent="-457200">
              <a:buAutoNum type="arabicPeriod"/>
              <a:defRPr sz="3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</a:t>
            </a:r>
          </a:p>
          <a:p>
            <a:pPr lvl="0"/>
            <a:r>
              <a:rPr lang="ru-RU" dirty="0"/>
              <a:t>Текст 2</a:t>
            </a:r>
          </a:p>
          <a:p>
            <a:pPr lvl="0"/>
            <a:r>
              <a:rPr lang="en-US" dirty="0"/>
              <a:t>English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14443A-64F8-A041-16B0-A6A70F550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AD5BD8-33E1-A5BF-BA22-26757A0C8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DB9A1D-E735-3B01-BF4D-D833B6C1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173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3A27B-6E95-9971-C44B-9AA82A60A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08174F-A8AC-2027-8F4C-ED00DCB400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3E56702-40C3-B7F3-1398-77D5C2C05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5AADC0-C4CF-E4D8-3A41-61DB1C0F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8477D1-3F4A-908B-571F-D3C76BFBB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6F169E-CE21-CAF5-1F52-8596B685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590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78FD8-62A7-89ED-E35C-3D72CC88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0F0ED6-5AAB-B7B1-8E41-4C7762BC1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BF5ABB-28F6-BC15-9057-6833761CD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A625E4-112E-87D8-E986-5873681549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97DBE2-0C34-9AAE-1690-03B9FA1AE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50FCECC-6437-BC1A-EA0B-CB505A94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87C5C55-8F0B-8829-F7C6-D0691C62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B677D7-47D8-305B-2987-39E09E406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89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147F8-932F-267C-FFB2-3CC06A64C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6F0D0F6-0945-35F7-3033-372D89446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CCE8A8-2F3C-460E-DA7C-AD15996FF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56B3BF-9D8A-BC2A-AE56-2AF98136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66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758862E-6E0D-5C6E-F638-2AEB24D6E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D5B854-52C3-BDA0-45B0-A7ECBEE6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95869E-0926-401F-AA9D-0D13AC0AC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810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55D23-4C92-749E-C324-287FC66FF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A2B080-E39F-2A44-EDAD-1DD7BE481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33A0E4-1DFB-3483-D40B-8CD8E6E04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2E1432-6DCB-BF2E-7CF0-F77919A9A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DCC4A5-A31B-0523-C97D-BB1CC2BB4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03E401-D133-2397-D31A-4ABA84A3E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111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92F06-8AD1-A307-77FC-D5140F81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B6B16D0-4CAB-0016-6046-2773B438DC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70B6773-CFB7-09F3-65C7-EA9E07633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7ED911-BA92-55BC-499B-6C3AAD787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8AA742-E0A5-155D-5BE5-A6DC77AB0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3A0082-01BC-55DB-2A2B-C86FEE717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201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7CAADD-FF5C-E3B9-5FFF-2FD0DB19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C2FA9B-A813-C216-F583-7EE52062F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34E48E-2440-7114-9FD6-BDCFA6F6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775753-5AB9-E921-CBA4-0B6E43B9A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680253-E535-235E-B7B0-C1E3A9161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21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BA58B6B-FCD6-5F57-B91B-5E9CA3140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65D83E-1FC0-F9EB-4DA9-6039A3A27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762B1F-C0DB-5C46-6C63-E6C7FF8DC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39F40-DBC3-0B00-2C81-51CCDEE1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465397-3044-76ED-900A-112C0013D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01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5F3CA-F003-76E5-B279-C94AF537C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9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599F18-3D67-21FD-487F-39F25B90C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76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CB7D8D-A710-EAC4-7B62-0CF95EDA37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 u="sng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04.03.2025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F255D6-1D8E-4F2D-8669-5838EAB57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 u="sng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лекция 4 (Интерпретация Нейросетей)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788E7A-C56C-C12B-3CAE-6652BD6D2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u="sng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6E3FE-E5A1-4FC4-A881-7F7728D688B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097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sng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311.2901.pdf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312.6034.pdf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412.6806.pdf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arxiv.org/pdf/1512.04150.pdf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610.02391.pdf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3609DB-532F-77C0-6FEB-EBF2E9FE49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Интерпретация Нейросетей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AF5929-0D5C-3C3F-0C19-736E6DCEC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Наумов Антон (</a:t>
            </a:r>
            <a:r>
              <a:rPr lang="en-US" dirty="0"/>
              <a:t>@any0019)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8697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526841-C113-2717-2E41-940A48333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CC8B4A-05B2-AEFD-357D-57C5D20F6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4035"/>
            <a:ext cx="10515600" cy="489914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Интерпретация</a:t>
            </a:r>
          </a:p>
          <a:p>
            <a:pPr marL="514350" indent="-514350">
              <a:buAutoNum type="arabicPeriod"/>
            </a:pPr>
            <a:r>
              <a:rPr lang="ru-RU" dirty="0"/>
              <a:t>В общем случае</a:t>
            </a:r>
          </a:p>
          <a:p>
            <a:pPr marL="514350" indent="-514350">
              <a:buAutoNum type="arabicPeriod"/>
            </a:pPr>
            <a:r>
              <a:rPr lang="ru-RU" dirty="0"/>
              <a:t>От </a:t>
            </a:r>
            <a:r>
              <a:rPr lang="en-US" dirty="0"/>
              <a:t>ML </a:t>
            </a:r>
            <a:r>
              <a:rPr lang="ru-RU" dirty="0"/>
              <a:t>к </a:t>
            </a:r>
            <a:r>
              <a:rPr lang="en-US" dirty="0"/>
              <a:t>DL</a:t>
            </a:r>
            <a:endParaRPr lang="ru-RU" dirty="0"/>
          </a:p>
          <a:p>
            <a:pPr marL="514350" indent="-514350">
              <a:buAutoNum type="arabicPeriod"/>
            </a:pPr>
            <a:r>
              <a:rPr lang="en-US" dirty="0"/>
              <a:t>CV</a:t>
            </a:r>
          </a:p>
          <a:p>
            <a:pPr marL="514350" indent="-514350">
              <a:buAutoNum type="arabicPeriod"/>
            </a:pPr>
            <a:r>
              <a:rPr lang="en-US" dirty="0"/>
              <a:t>NLP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93CC5-A5E0-DFC7-985F-EFF2493B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932EE5-3716-A6D5-063E-4A698418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826BD2-2562-64D1-D0A5-EF0B7513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792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DE13D-7D84-3FD6-8D6D-D31F48730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BDBBE3-9B7F-4502-3AA4-830B2A548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1. Интерпретация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B39B15-0E6D-8E95-2D5A-D863E4482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Интерпретируемость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Почему важно</a:t>
            </a:r>
            <a:r>
              <a:rPr lang="en-US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Всегда ли нужна</a:t>
            </a:r>
            <a:r>
              <a:rPr lang="en-US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Объяснимость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665552-DE67-F91A-7F28-AA96A31BF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7A3537-C8D2-59EA-3D57-F5E9EE18E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F04FA8-5AC9-E57C-CCCE-97ADB0D3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961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19B81-2AE8-5B4A-8A48-07798B136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 </a:t>
            </a:r>
            <a:r>
              <a:rPr lang="ru-RU" dirty="0"/>
              <a:t>Интерпретируемость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74A9EF-E6E5-136D-A763-8F0649D73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800" dirty="0"/>
              <a:t>Нет строгого математического определения…, но к примеру:</a:t>
            </a:r>
          </a:p>
          <a:p>
            <a:pPr marL="0" indent="0">
              <a:buNone/>
            </a:pPr>
            <a:r>
              <a:rPr lang="en-US" sz="2800" dirty="0"/>
              <a:t>© Miller (2017): </a:t>
            </a:r>
            <a:r>
              <a:rPr lang="en-US" sz="1800" b="1" i="0" dirty="0">
                <a:solidFill>
                  <a:srgbClr val="333333"/>
                </a:solidFill>
                <a:effectLst/>
                <a:latin typeface="Helvetica Neue"/>
              </a:rPr>
              <a:t>”Interpretability is the degree to which a human can understand the cause of a decision”</a:t>
            </a:r>
          </a:p>
          <a:p>
            <a:pPr marL="0" indent="0">
              <a:buNone/>
            </a:pPr>
            <a:r>
              <a:rPr lang="en-US" sz="2800" dirty="0"/>
              <a:t>© Kim (2016): </a:t>
            </a:r>
            <a:r>
              <a:rPr lang="en-US" sz="1800" b="1" i="0" dirty="0">
                <a:solidFill>
                  <a:srgbClr val="333333"/>
                </a:solidFill>
                <a:effectLst/>
                <a:latin typeface="Helvetica Neue"/>
              </a:rPr>
              <a:t>”Interpretability is the degree to which a human can consistently predict the model’s result”</a:t>
            </a:r>
            <a:endParaRPr lang="en-US" sz="2800" dirty="0"/>
          </a:p>
          <a:p>
            <a:pPr marL="0" indent="0">
              <a:buNone/>
            </a:pPr>
            <a:r>
              <a:rPr lang="ru-RU" sz="2800" b="1" dirty="0"/>
              <a:t>Неформально</a:t>
            </a:r>
            <a:r>
              <a:rPr lang="ru-RU" sz="2800" dirty="0"/>
              <a:t> – </a:t>
            </a:r>
            <a:r>
              <a:rPr lang="en-US" sz="2800" dirty="0"/>
              <a:t>“</a:t>
            </a:r>
            <a:r>
              <a:rPr lang="ru-RU" sz="2800" dirty="0"/>
              <a:t>Как хорошо мы понимаем работу нашего алгоритма в различных условиях</a:t>
            </a:r>
            <a:r>
              <a:rPr lang="en-US" sz="2800" dirty="0"/>
              <a:t>”</a:t>
            </a:r>
            <a:endParaRPr lang="ru-RU" sz="2800" dirty="0"/>
          </a:p>
          <a:p>
            <a:pPr marL="0" indent="0">
              <a:buNone/>
            </a:pPr>
            <a:r>
              <a:rPr lang="ru-RU" sz="2800" dirty="0"/>
              <a:t>Так, к вам могут прийти с вопросами:</a:t>
            </a:r>
          </a:p>
          <a:p>
            <a:r>
              <a:rPr lang="ru-RU" sz="2800" dirty="0"/>
              <a:t>Почему в конкретном примере ответ такой?</a:t>
            </a:r>
          </a:p>
          <a:p>
            <a:r>
              <a:rPr lang="ru-RU" sz="2800" dirty="0"/>
              <a:t>Что больше влияет на принятие решения?</a:t>
            </a:r>
          </a:p>
          <a:p>
            <a:r>
              <a:rPr lang="ru-RU" sz="2800" dirty="0"/>
              <a:t>Соотносится ли с человеческой логикой?</a:t>
            </a:r>
          </a:p>
          <a:p>
            <a:r>
              <a:rPr lang="ru-RU" sz="2800" dirty="0"/>
              <a:t>Какой алгоритм принятия решений?</a:t>
            </a:r>
          </a:p>
          <a:p>
            <a:pPr marL="0" indent="0">
              <a:buNone/>
            </a:pPr>
            <a:r>
              <a:rPr lang="ru-RU" sz="2800" dirty="0"/>
              <a:t>Всё это и есть </a:t>
            </a:r>
            <a:r>
              <a:rPr lang="ru-RU" sz="2800" i="1" u="sng" dirty="0"/>
              <a:t>интерпретируемость</a:t>
            </a:r>
            <a:r>
              <a:rPr lang="ru-RU" sz="2800" dirty="0"/>
              <a:t> и </a:t>
            </a:r>
            <a:r>
              <a:rPr lang="ru-RU" sz="2800" i="1" u="sng" dirty="0"/>
              <a:t>объяснимость</a:t>
            </a:r>
            <a:r>
              <a:rPr lang="ru-RU" sz="2800" dirty="0"/>
              <a:t>!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3F0F7-E4B9-CF8D-CFE5-214ACC516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143990-80EC-1DD7-AFF2-232BBC0C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599537-99B1-C301-A5F5-CE42E610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912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F0FA-708B-5737-1F1F-B3E377C33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064ED-6B46-5DC2-9047-0A0C997D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</a:t>
            </a:r>
            <a:r>
              <a:rPr lang="ru-RU" dirty="0"/>
              <a:t>2</a:t>
            </a:r>
            <a:r>
              <a:rPr lang="en-US" dirty="0"/>
              <a:t>. </a:t>
            </a:r>
            <a:r>
              <a:rPr lang="ru-RU" dirty="0"/>
              <a:t>Почему важно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1D68F3-8040-737B-BE49-388320920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romanUcPeriod"/>
            </a:pPr>
            <a:r>
              <a:rPr lang="ru-RU" dirty="0"/>
              <a:t>Исследование:</a:t>
            </a:r>
          </a:p>
          <a:p>
            <a:pPr marL="971550" lvl="1" indent="-514350">
              <a:buFont typeface="+mj-lt"/>
              <a:buAutoNum type="alphaLcParenR"/>
            </a:pPr>
            <a:r>
              <a:rPr lang="ru-RU" sz="2800" dirty="0"/>
              <a:t>Как связаны данные и результаты (</a:t>
            </a:r>
            <a:r>
              <a:rPr lang="ru-RU" sz="2800" b="1" dirty="0"/>
              <a:t>извлечение знания из данных</a:t>
            </a:r>
            <a:r>
              <a:rPr lang="ru-RU" sz="2800" dirty="0"/>
              <a:t>)?</a:t>
            </a:r>
          </a:p>
          <a:p>
            <a:pPr marL="971550" lvl="1" indent="-514350">
              <a:buFont typeface="+mj-lt"/>
              <a:buAutoNum type="alphaLcParenR"/>
            </a:pPr>
            <a:r>
              <a:rPr lang="ru-RU" sz="2800" dirty="0"/>
              <a:t>Какие странности и проблемы есть в данных (</a:t>
            </a:r>
            <a:r>
              <a:rPr lang="ru-RU" sz="2800" b="1" dirty="0"/>
              <a:t>очистка и сбор данных</a:t>
            </a:r>
            <a:r>
              <a:rPr lang="ru-RU" sz="2800" dirty="0"/>
              <a:t>)?</a:t>
            </a:r>
          </a:p>
          <a:p>
            <a:pPr marL="971550" lvl="1" indent="-514350">
              <a:buFont typeface="+mj-lt"/>
              <a:buAutoNum type="alphaLcParenR"/>
            </a:pPr>
            <a:r>
              <a:rPr lang="ru-RU" sz="2800" dirty="0"/>
              <a:t>Почему модель не справляется так, как мне бы хотелось (</a:t>
            </a:r>
            <a:r>
              <a:rPr lang="ru-RU" sz="2800" b="1" dirty="0"/>
              <a:t>отладка обучения</a:t>
            </a:r>
            <a:r>
              <a:rPr lang="ru-RU" sz="2800" dirty="0"/>
              <a:t>)?</a:t>
            </a:r>
          </a:p>
          <a:p>
            <a:pPr marL="514350" indent="-514350">
              <a:buFont typeface="+mj-lt"/>
              <a:buAutoNum type="romanUcPeriod"/>
            </a:pPr>
            <a:r>
              <a:rPr lang="ru-RU" dirty="0"/>
              <a:t>Безопасность:</a:t>
            </a:r>
          </a:p>
          <a:p>
            <a:pPr marL="971550" lvl="1" indent="-514350">
              <a:buFont typeface="+mj-lt"/>
              <a:buAutoNum type="alphaLcParenR"/>
            </a:pPr>
            <a:r>
              <a:rPr lang="ru-RU" sz="2800" dirty="0"/>
              <a:t>Как злоумышленник может обмануть модель (</a:t>
            </a:r>
            <a:r>
              <a:rPr lang="ru-RU" sz="2800" b="1" dirty="0"/>
              <a:t>защита от атак</a:t>
            </a:r>
            <a:r>
              <a:rPr lang="ru-RU" sz="2800" dirty="0"/>
              <a:t>)?</a:t>
            </a:r>
          </a:p>
          <a:p>
            <a:pPr marL="971550" lvl="1" indent="-514350">
              <a:buFont typeface="+mj-lt"/>
              <a:buAutoNum type="alphaLcParenR"/>
            </a:pPr>
            <a:r>
              <a:rPr lang="ru-RU" sz="2800" dirty="0"/>
              <a:t>Нет ли в данных </a:t>
            </a:r>
            <a:r>
              <a:rPr lang="en-US" sz="2800" dirty="0"/>
              <a:t>bias</a:t>
            </a:r>
            <a:r>
              <a:rPr lang="ru-RU" sz="2800" dirty="0"/>
              <a:t>-</a:t>
            </a:r>
            <a:r>
              <a:rPr lang="ru-RU" sz="2800" dirty="0" err="1"/>
              <a:t>ов</a:t>
            </a:r>
            <a:r>
              <a:rPr lang="ru-RU" sz="2800" dirty="0"/>
              <a:t>, не соответствующих реальности, а порождённые качеством сбора данных или методом обучения (</a:t>
            </a:r>
            <a:r>
              <a:rPr lang="en-US" sz="2800" b="1" dirty="0"/>
              <a:t>bias</a:t>
            </a:r>
            <a:r>
              <a:rPr lang="ru-RU" sz="2800" b="1" dirty="0"/>
              <a:t>-ы и дискриминация</a:t>
            </a:r>
            <a:r>
              <a:rPr lang="ru-RU" sz="2800" dirty="0"/>
              <a:t>)?</a:t>
            </a:r>
          </a:p>
          <a:p>
            <a:pPr marL="971550" lvl="1" indent="-514350">
              <a:buFont typeface="+mj-lt"/>
              <a:buAutoNum type="alphaLcParenR"/>
            </a:pPr>
            <a:r>
              <a:rPr lang="ru-RU" sz="2800" dirty="0"/>
              <a:t>Не допустит ли модель ошибку в зоне, где нельзя совершать ошибок (</a:t>
            </a:r>
            <a:r>
              <a:rPr lang="ru-RU" sz="2800" b="1" dirty="0"/>
              <a:t>безопасность и репутация</a:t>
            </a:r>
            <a:r>
              <a:rPr lang="ru-RU" sz="2800" dirty="0"/>
              <a:t>)?</a:t>
            </a:r>
          </a:p>
          <a:p>
            <a:pPr marL="971550" lvl="1" indent="-514350">
              <a:buFont typeface="+mj-lt"/>
              <a:buAutoNum type="alphaLcParenR"/>
            </a:pPr>
            <a:r>
              <a:rPr lang="ru-RU" sz="2800" dirty="0"/>
              <a:t>Можем ли мы объяснить ответ при обращении к нам с вопросами (</a:t>
            </a:r>
            <a:r>
              <a:rPr lang="ru-RU" sz="2800" b="1" dirty="0"/>
              <a:t>понятность</a:t>
            </a:r>
            <a:r>
              <a:rPr lang="ru-RU" sz="2800" dirty="0"/>
              <a:t>)?</a:t>
            </a:r>
          </a:p>
          <a:p>
            <a:pPr marL="0" indent="0">
              <a:buNone/>
            </a:pPr>
            <a:endParaRPr lang="ru-RU" sz="36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361203-243A-8AC7-2EC4-2047B1CF9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104672-10E2-2597-0E09-52EE77C9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81CD7B-814E-8C42-53CC-F11CCE66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534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6317D-A2D5-F7A7-A161-029F2D0DE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491A2C-0110-EC79-933E-EEC978380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</a:t>
            </a:r>
            <a:r>
              <a:rPr lang="en-US" dirty="0"/>
              <a:t>.</a:t>
            </a:r>
            <a:r>
              <a:rPr lang="ru-RU" dirty="0"/>
              <a:t>3</a:t>
            </a:r>
            <a:r>
              <a:rPr lang="en-US" dirty="0"/>
              <a:t>.</a:t>
            </a:r>
            <a:r>
              <a:rPr lang="ru-RU" dirty="0"/>
              <a:t> Всегда ли нужна</a:t>
            </a:r>
            <a:r>
              <a:rPr lang="en-US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27782-B144-1BEF-AA8A-A3D90FEC7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i="1" dirty="0"/>
              <a:t>Конечно же, нет.</a:t>
            </a:r>
          </a:p>
          <a:p>
            <a:pPr marL="0" indent="0">
              <a:buNone/>
            </a:pPr>
            <a:r>
              <a:rPr lang="ru-RU" sz="2800" dirty="0"/>
              <a:t>Не нужна или даже противопоказана, когда:</a:t>
            </a:r>
          </a:p>
          <a:p>
            <a:r>
              <a:rPr lang="ru-RU" sz="2800" dirty="0"/>
              <a:t>Влияние и риски вокруг модели низки</a:t>
            </a:r>
          </a:p>
          <a:p>
            <a:r>
              <a:rPr lang="ru-RU" sz="2800" dirty="0"/>
              <a:t>Проблема хорошо изучена и разработана</a:t>
            </a:r>
          </a:p>
          <a:p>
            <a:r>
              <a:rPr lang="ru-RU" sz="2800" dirty="0"/>
              <a:t>Класс моделей хорошо изучен, разработан и широко применяется</a:t>
            </a:r>
          </a:p>
          <a:p>
            <a:r>
              <a:rPr lang="ru-RU" sz="2800" dirty="0"/>
              <a:t>Требуется высокая степень защиты от атак или внешнего понимания работы алгоритма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C01B40-327E-76A4-3666-7D2297F98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98A314-6C70-9184-1E1D-6F40A9893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C9A71E-9163-E334-355B-9E8795B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368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253D6-2DF9-600D-62F8-ACD98B7BC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8C969-274F-085D-1131-DA59141E5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1.4. </a:t>
            </a:r>
            <a:r>
              <a:rPr lang="ru-RU" dirty="0"/>
              <a:t>Объяснимость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E68801-9782-FF29-5426-F8CC16354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Способность дать ответы на различные вопросы про модель:</a:t>
            </a:r>
          </a:p>
          <a:p>
            <a:r>
              <a:rPr lang="ru-RU" dirty="0"/>
              <a:t>Что она делает?</a:t>
            </a:r>
          </a:p>
          <a:p>
            <a:r>
              <a:rPr lang="ru-RU" dirty="0"/>
              <a:t>Почему она так решила?</a:t>
            </a:r>
          </a:p>
          <a:p>
            <a:r>
              <a:rPr lang="ru-RU" dirty="0"/>
              <a:t>Кто ее этому научил?</a:t>
            </a:r>
          </a:p>
          <a:p>
            <a:r>
              <a:rPr lang="ru-RU" dirty="0"/>
              <a:t>Надежна ли она?</a:t>
            </a:r>
          </a:p>
          <a:p>
            <a:r>
              <a:rPr lang="ru-RU" dirty="0"/>
              <a:t>На чем она сломается?</a:t>
            </a:r>
          </a:p>
          <a:p>
            <a:r>
              <a:rPr lang="ru-RU" dirty="0"/>
              <a:t>Как повлиять на решение?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C1BC4B-F25D-3744-7BB3-1D14EB434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167E44-08C9-05DE-7195-8CA72D07D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7B9922-A5DE-2DA7-B239-AAC61600D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5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4AB58-FDDC-DC65-BA82-2C4FDF8F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A20985-0380-56A9-002B-5772EFAB3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2. В общем случае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184972-2A30-4274-23DF-B80A1BBE6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Свойства методов объяснения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Свойства отдельных объяснений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Что хотим объяснять</a:t>
            </a:r>
            <a:r>
              <a:rPr lang="en-US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Как будем объяснять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BD9D1C-8EB5-9917-F4ED-D8F43DE20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552375-4AC4-4915-44D3-D13D3DE9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B67E78-D288-CEAB-425F-BFFB6097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3444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057AE-DCAE-14DC-CC52-A14711C3A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26A312-5A50-A4DB-9C51-74C5851B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2</a:t>
            </a:r>
            <a:r>
              <a:rPr lang="en-US" dirty="0"/>
              <a:t>.</a:t>
            </a:r>
            <a:r>
              <a:rPr lang="ru-RU" dirty="0"/>
              <a:t>1</a:t>
            </a:r>
            <a:r>
              <a:rPr lang="en-US" dirty="0"/>
              <a:t>.</a:t>
            </a:r>
            <a:r>
              <a:rPr lang="ru-RU" dirty="0"/>
              <a:t> Свойства методов объяснения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36512F-0503-4C38-EBED-19FBD1290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</a:rPr>
              <a:t>Expressive Power</a:t>
            </a:r>
            <a:r>
              <a:rPr lang="ru-RU" b="1" i="0" dirty="0">
                <a:solidFill>
                  <a:srgbClr val="333333"/>
                </a:solidFill>
                <a:effectLst/>
              </a:rPr>
              <a:t> – </a:t>
            </a:r>
            <a:r>
              <a:rPr lang="ru-RU" dirty="0"/>
              <a:t>на каком </a:t>
            </a:r>
            <a:r>
              <a:rPr lang="en-US" dirty="0"/>
              <a:t>“</a:t>
            </a:r>
            <a:r>
              <a:rPr lang="ru-RU" dirty="0"/>
              <a:t>языке</a:t>
            </a:r>
            <a:r>
              <a:rPr lang="en-US" dirty="0"/>
              <a:t>”</a:t>
            </a:r>
            <a:r>
              <a:rPr lang="ru-RU" dirty="0"/>
              <a:t> или с использованием какой структуры выдаётся объяснение</a:t>
            </a:r>
            <a:endParaRPr lang="ru-RU" b="1" i="0" dirty="0">
              <a:solidFill>
                <a:srgbClr val="333333"/>
              </a:solidFill>
              <a:effectLst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i="0" dirty="0">
                <a:solidFill>
                  <a:srgbClr val="333333"/>
                </a:solidFill>
                <a:effectLst/>
              </a:rPr>
              <a:t>Translucency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kumimoji="0" lang="ru-RU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как много информации требуется методу о внутренностях модели</a:t>
            </a:r>
            <a:r>
              <a:rPr lang="en-US" b="0" i="0" dirty="0">
                <a:solidFill>
                  <a:srgbClr val="333333"/>
                </a:solidFill>
                <a:effectLst/>
              </a:rPr>
              <a:t> </a:t>
            </a:r>
            <a:endParaRPr lang="ru-RU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</a:rPr>
              <a:t>Portability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на каком количестве различных моделей можно использовать данный подход</a:t>
            </a:r>
            <a:endParaRPr lang="ru-RU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</a:rPr>
              <a:t>Algorithmic Complexity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насколько дорого вычислительно посчитать</a:t>
            </a:r>
            <a:endParaRPr lang="ru-RU" b="1" i="0" dirty="0">
              <a:solidFill>
                <a:srgbClr val="333333"/>
              </a:solidFill>
              <a:effectLst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F1E84A-6E13-2D20-5B1F-3848B9A0F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F33A3E-4783-31D4-CC28-570752AA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8100EA-221F-9F29-B47E-9AF1864F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457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A9FB8-5EC2-4ABF-D570-D7004BC9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0B2F94-112C-339B-928D-55BE9FDE9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2</a:t>
            </a:r>
            <a:r>
              <a:rPr lang="en-US" dirty="0"/>
              <a:t>.</a:t>
            </a:r>
            <a:r>
              <a:rPr lang="ru-RU" dirty="0"/>
              <a:t>2</a:t>
            </a:r>
            <a:r>
              <a:rPr lang="en-US" dirty="0"/>
              <a:t>.</a:t>
            </a:r>
            <a:r>
              <a:rPr lang="ru-RU" dirty="0"/>
              <a:t> Свойства отдельных объяснений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C36D0-F36A-4548-A52B-624A3C941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</a:rPr>
              <a:t>Accuracy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насколько точны объяснения на новых примерах</a:t>
            </a:r>
            <a:endParaRPr lang="ru-RU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</a:rPr>
              <a:t>Fidelity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насколько хорошо объясняется результат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black-box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модели</a:t>
            </a:r>
            <a:endParaRPr lang="ru-RU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</a:rPr>
              <a:t>Consistency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насколько близки объяснения двух похожих моделей на одной задаче с похожими результатами</a:t>
            </a:r>
            <a:endParaRPr lang="ru-RU" b="0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</a:rPr>
              <a:t>Stability 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–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насколько близки объяснения на двух похожих конкретных примерах</a:t>
            </a:r>
            <a:endParaRPr lang="ru-RU" b="1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</a:rPr>
              <a:t>Comprehensibility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насколько объяснения понятны человеку (в т.ч. уместность)</a:t>
            </a:r>
            <a:endParaRPr lang="ru-RU" b="1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</a:rPr>
              <a:t>Certainty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использует ли объяснение уверенность модели в ответах, если таковые тоже есть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587116-2B66-32F7-C5F8-44C85574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FF651F-FF53-9EBB-FBB1-BFDBA1E1B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A44A7C-250C-33E1-CAC4-617A63C6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289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7F1FA6-02E6-D4CC-6028-6B9012EBB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</a:t>
            </a:r>
            <a:r>
              <a:rPr lang="en-US" dirty="0"/>
              <a:t>.</a:t>
            </a:r>
            <a:r>
              <a:rPr lang="ru-RU" dirty="0"/>
              <a:t>2</a:t>
            </a:r>
            <a:r>
              <a:rPr lang="en-US" dirty="0"/>
              <a:t>.</a:t>
            </a:r>
            <a:r>
              <a:rPr lang="ru-RU" dirty="0"/>
              <a:t> Свойства отдельных объяснений (ещё)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498A25-CAD3-3FD9-8398-3ABFD9D13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333333"/>
                </a:solidFill>
                <a:effectLst/>
              </a:rPr>
              <a:t>Degree of Importance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даёт ли объяснение информацию о важности отдельных фичей</a:t>
            </a:r>
            <a:endParaRPr lang="ru-RU" sz="2800" b="1" i="0" dirty="0">
              <a:solidFill>
                <a:srgbClr val="333333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333333"/>
                </a:solidFill>
                <a:effectLst/>
              </a:rPr>
              <a:t>Novelty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даёт ли объяснение информацию о новизне данных (регион удалённый от основного распределения)</a:t>
            </a:r>
            <a:endParaRPr lang="ru-RU" sz="2800" dirty="0">
              <a:solidFill>
                <a:srgbClr val="333333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333333"/>
                </a:solidFill>
                <a:effectLst/>
              </a:rPr>
              <a:t>Representativeness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как много покрывает данное объяснение (один пример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vs …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vs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вся модель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Selectivity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не выдаёт ли объяснение нам слишком много информации</a:t>
            </a:r>
          </a:p>
          <a:p>
            <a:pPr>
              <a:defRPr/>
            </a:pPr>
            <a:r>
              <a:rPr lang="en-US" sz="2800" b="1" i="0" dirty="0" err="1">
                <a:solidFill>
                  <a:srgbClr val="333333"/>
                </a:solidFill>
                <a:effectLst/>
              </a:rPr>
              <a:t>Contrastiveness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ea typeface="+mn-ea"/>
                <a:cs typeface="+mn-cs"/>
              </a:rPr>
              <a:t> 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даёт ли объяснение понимание отличия данного результата от другого</a:t>
            </a:r>
            <a:endParaRPr lang="ru-RU" sz="2800" dirty="0"/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BDF40B-F6D4-B9FD-3DF5-4D178E5BB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F6FA5C-4898-0C32-B0AD-680397BC3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9DB5BA-5DA0-3D8E-D52B-E8CF92BDD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71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85F97-5C2C-F656-5050-DB0ACF036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97AADA-7C83-B93F-CCAF-2790C5F8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2</a:t>
            </a:r>
            <a:r>
              <a:rPr lang="en-US" dirty="0"/>
              <a:t>.</a:t>
            </a:r>
            <a:r>
              <a:rPr lang="ru-RU" dirty="0"/>
              <a:t>3</a:t>
            </a:r>
            <a:r>
              <a:rPr lang="en-US" dirty="0"/>
              <a:t>.</a:t>
            </a:r>
            <a:r>
              <a:rPr lang="ru-RU" dirty="0"/>
              <a:t> Что хотим объяснять</a:t>
            </a:r>
            <a:r>
              <a:rPr lang="en-US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5802B2-8836-3B89-7915-01FD5B028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Входные данные (как алгоритм порождает модель из данных?)</a:t>
            </a:r>
          </a:p>
          <a:p>
            <a:r>
              <a:rPr lang="ru-RU" sz="2800" dirty="0"/>
              <a:t>Модель как белый ящик (как части модели влияют на предсказания?)</a:t>
            </a:r>
          </a:p>
          <a:p>
            <a:r>
              <a:rPr lang="ru-RU" sz="2800" dirty="0"/>
              <a:t>Модель как чёрный ящик (как обученная модель делает предсказания?)</a:t>
            </a:r>
          </a:p>
          <a:p>
            <a:r>
              <a:rPr lang="ru-RU" sz="2800" dirty="0"/>
              <a:t>Результат работы модели (почему было сделано конкретное предсказание?)</a:t>
            </a:r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r>
              <a:rPr lang="ru-RU" sz="2800" dirty="0"/>
              <a:t>Так же стоит вопрос вида подхода:</a:t>
            </a:r>
          </a:p>
          <a:p>
            <a:r>
              <a:rPr lang="en-US" sz="2800" b="1" dirty="0"/>
              <a:t>Model-specific</a:t>
            </a:r>
            <a:r>
              <a:rPr lang="ru-RU" sz="2800" dirty="0"/>
              <a:t> – с пониманием конкретной используемой модели</a:t>
            </a:r>
          </a:p>
          <a:p>
            <a:r>
              <a:rPr lang="en-US" sz="2800" b="1" dirty="0"/>
              <a:t>Model-agnostic</a:t>
            </a:r>
            <a:r>
              <a:rPr lang="ru-RU" sz="2800" dirty="0"/>
              <a:t> – общий подход, не привязанный к виду модели</a:t>
            </a:r>
            <a:endParaRPr lang="en-US" sz="28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1CE988-23FA-48EE-263C-6FB029BF9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EB6E8D-A5DF-1701-72C7-F953FC15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53A2E7-CB15-DA37-F04A-0A935F07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054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C460-CCF0-FEDB-EB73-2CEC099D1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5D0FC8-8F33-CAAA-DF57-CE26A5D90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2</a:t>
            </a:r>
            <a:r>
              <a:rPr lang="en-US" dirty="0"/>
              <a:t>.</a:t>
            </a:r>
            <a:r>
              <a:rPr lang="ru-RU" dirty="0"/>
              <a:t>4</a:t>
            </a:r>
            <a:r>
              <a:rPr lang="en-US" dirty="0"/>
              <a:t>.</a:t>
            </a:r>
            <a:r>
              <a:rPr lang="ru-RU" dirty="0"/>
              <a:t> Как будем объяснять</a:t>
            </a:r>
            <a:r>
              <a:rPr lang="en-US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B50872-F614-FC28-A2AC-1147C9570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Статистика или визуализация фичей </a:t>
            </a:r>
            <a:r>
              <a:rPr lang="ru-RU" sz="2800" dirty="0"/>
              <a:t>– к пр. важность различных фичей относительно результатов</a:t>
            </a:r>
          </a:p>
          <a:p>
            <a:r>
              <a:rPr lang="ru-RU" sz="2800" b="1" dirty="0"/>
              <a:t>Внутренности модели </a:t>
            </a:r>
            <a:r>
              <a:rPr lang="ru-RU" sz="2800" dirty="0"/>
              <a:t>– к пр. обученные веса из интерпретируемой модели</a:t>
            </a:r>
          </a:p>
          <a:p>
            <a:r>
              <a:rPr lang="ru-RU" sz="2800" b="1" dirty="0"/>
              <a:t>Точка данных </a:t>
            </a:r>
            <a:r>
              <a:rPr lang="ru-RU" sz="2800" dirty="0"/>
              <a:t>(новая или ранее существующая) – смотрите как надо или как не надо (в таком случае сами примеры должны быть интерпретируемы)</a:t>
            </a:r>
          </a:p>
          <a:p>
            <a:r>
              <a:rPr lang="ru-RU" sz="2800" b="1" dirty="0"/>
              <a:t>Интерпретируемая модель </a:t>
            </a:r>
            <a:r>
              <a:rPr lang="ru-RU" sz="2800" dirty="0"/>
              <a:t>– более простая и понятная модель, которая ведёт себя так же или похоже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74C31D-4930-04BB-C87B-A8D43CEB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BC68FF-CACE-B540-A82F-F4FAB52C5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C0DE0C-CF80-4E23-95B9-8E928A0E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88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9CF57-A38B-1D42-46A0-F368A8F89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3. От </a:t>
            </a:r>
            <a:r>
              <a:rPr lang="en-US" dirty="0"/>
              <a:t>ML </a:t>
            </a:r>
            <a:r>
              <a:rPr lang="ru-RU" dirty="0"/>
              <a:t>к </a:t>
            </a:r>
            <a:r>
              <a:rPr lang="en-US" dirty="0"/>
              <a:t>DL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24EA33-CE08-7C5E-4B40-9498C3233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Интерпретируемые модели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Как быть с </a:t>
            </a:r>
            <a:r>
              <a:rPr lang="en-US" dirty="0"/>
              <a:t>ML?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ML vs DL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Как быть с </a:t>
            </a:r>
            <a:r>
              <a:rPr lang="en-US" dirty="0"/>
              <a:t>DL?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Линейные модели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6C6E86-A3F3-2420-C6A0-EB30ECCB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53B8DD-CEF2-4BD6-342B-D41061932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9AC82C-C2FA-93E7-3611-91D47A60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817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A138-6B36-9B47-473E-1BB9A2D4C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FF00C-A4CB-1B4A-A2B1-6C5C6EEC3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3</a:t>
            </a:r>
            <a:r>
              <a:rPr lang="en-US" dirty="0"/>
              <a:t>.</a:t>
            </a:r>
            <a:r>
              <a:rPr lang="ru-RU" dirty="0"/>
              <a:t>1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ru-RU" sz="3600" u="sng" dirty="0">
                <a:cs typeface="Times New Roman" panose="02020603050405020304" pitchFamily="18" charset="0"/>
              </a:rPr>
              <a:t>Интерпретируемые модели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F3AB91-A24D-9AFA-B836-5A35D327E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Линейные модели</a:t>
            </a:r>
            <a:r>
              <a:rPr lang="en-US" sz="2800" b="1" dirty="0"/>
              <a:t> </a:t>
            </a:r>
            <a:r>
              <a:rPr lang="en-US" sz="2800" dirty="0"/>
              <a:t>– </a:t>
            </a:r>
            <a:r>
              <a:rPr lang="ru-RU" sz="2800" dirty="0"/>
              <a:t>сравниваем эффекты, а не веса (вес * значение), т.к. признаки могут иметь разный масштаб, значимость – </a:t>
            </a:r>
            <a:r>
              <a:rPr lang="en-US" sz="2800" dirty="0"/>
              <a:t>p-value</a:t>
            </a:r>
            <a:r>
              <a:rPr lang="ru-RU" sz="2800" dirty="0"/>
              <a:t>. В случае </a:t>
            </a:r>
            <a:r>
              <a:rPr lang="en-US" sz="2800" dirty="0" err="1"/>
              <a:t>LogReg</a:t>
            </a:r>
            <a:r>
              <a:rPr lang="en-US" sz="2800" dirty="0"/>
              <a:t> </a:t>
            </a:r>
            <a:r>
              <a:rPr lang="ru-RU" sz="2800" dirty="0"/>
              <a:t>– логарифм шанса.</a:t>
            </a:r>
          </a:p>
          <a:p>
            <a:r>
              <a:rPr lang="ru-RU" sz="2800" b="1" dirty="0"/>
              <a:t>Деревья и списки правил</a:t>
            </a:r>
            <a:r>
              <a:rPr lang="ru-RU" sz="2800" dirty="0"/>
              <a:t> – разбиение данных на группы и если не слишком большой глубины, то легко интерпретируемо.</a:t>
            </a:r>
          </a:p>
          <a:p>
            <a:r>
              <a:rPr lang="en-US" sz="2800" b="1" dirty="0"/>
              <a:t>KNN</a:t>
            </a:r>
            <a:r>
              <a:rPr lang="ru-RU" sz="2800" dirty="0"/>
              <a:t> – если сами примеры интерпретируемы, то и модель интерпретируема (ответ такой, потому что вот похожие примеры с таким же ответом).</a:t>
            </a:r>
          </a:p>
          <a:p>
            <a:r>
              <a:rPr lang="en-US" sz="2800" b="1" dirty="0"/>
              <a:t>Naive Bayes Classifier</a:t>
            </a:r>
            <a:r>
              <a:rPr lang="ru-RU" sz="2800" b="1" dirty="0"/>
              <a:t> </a:t>
            </a:r>
            <a:r>
              <a:rPr lang="ru-RU" sz="2800" dirty="0"/>
              <a:t>– предполагается независимость признаков, соответственно легко из формулы получаются значимости относительно каждого из классов.</a:t>
            </a:r>
            <a:endParaRPr lang="en-US" sz="28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5EBF55-72D9-B8BF-18D6-4C829BAE2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39D19F-633E-1B53-B557-511B124D1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3A92B9-FC6E-DD52-6318-7FEEDE34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96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EA320-AC89-560D-CDAC-B643A852A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2EA4D3-3C82-DC69-6620-ECFBB556A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3</a:t>
            </a:r>
            <a:r>
              <a:rPr lang="en-US" dirty="0"/>
              <a:t>.</a:t>
            </a:r>
            <a:r>
              <a:rPr lang="ru-RU" dirty="0"/>
              <a:t>2</a:t>
            </a:r>
            <a:r>
              <a:rPr lang="en-US" dirty="0"/>
              <a:t>.</a:t>
            </a:r>
            <a:r>
              <a:rPr lang="ru-RU" dirty="0"/>
              <a:t> Как быть с </a:t>
            </a:r>
            <a:r>
              <a:rPr lang="en-US" dirty="0"/>
              <a:t>ML?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ABA4FF-9919-633F-D1F2-3C74F037B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Большая часть подходов к интерпретации классических </a:t>
            </a:r>
            <a:r>
              <a:rPr lang="en-US" dirty="0"/>
              <a:t>ML </a:t>
            </a:r>
            <a:r>
              <a:rPr lang="ru-RU" dirty="0"/>
              <a:t>методов опирается на</a:t>
            </a:r>
            <a:r>
              <a:rPr lang="en-US" dirty="0"/>
              <a:t>:</a:t>
            </a:r>
          </a:p>
          <a:p>
            <a:r>
              <a:rPr lang="ru-RU" dirty="0"/>
              <a:t>Оценку влияния одной или нескольких фичей на предсказание</a:t>
            </a:r>
          </a:p>
          <a:p>
            <a:r>
              <a:rPr lang="ru-RU" sz="2800" dirty="0"/>
              <a:t>Взаимодействие между отдельными фичами</a:t>
            </a:r>
            <a:endParaRPr lang="ru-RU" dirty="0"/>
          </a:p>
          <a:p>
            <a:r>
              <a:rPr lang="ru-RU" sz="2800" dirty="0"/>
              <a:t>Влияние модификации или фиксации части признаков</a:t>
            </a:r>
          </a:p>
          <a:p>
            <a:r>
              <a:rPr lang="ru-RU" dirty="0"/>
              <a:t>Упрощение до более простых и интерпретируемых моделей</a:t>
            </a:r>
          </a:p>
          <a:p>
            <a:r>
              <a:rPr lang="ru-RU" dirty="0"/>
              <a:t>Интерпретация относительно отдельных примеров из данных (позитивных или негативных)</a:t>
            </a:r>
          </a:p>
          <a:p>
            <a:r>
              <a:rPr lang="ru-RU" dirty="0"/>
              <a:t>Создание близких данных и оценка изменения предсказаний</a:t>
            </a:r>
            <a:endParaRPr lang="en-US" sz="28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69796A-D5BA-5667-5B61-DA673905E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ED9E39-5E4C-8571-1BDE-E0112E918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6FC94B-F775-EB09-79E1-7E715AEF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396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A92FD-EB44-0901-6548-A8D19ECD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49934E-A1BD-F194-A333-3DFAD2CFB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3</a:t>
            </a:r>
            <a:r>
              <a:rPr lang="en-US" dirty="0"/>
              <a:t>.</a:t>
            </a:r>
            <a:r>
              <a:rPr lang="ru-RU" dirty="0"/>
              <a:t>3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sz="3600" u="sng" dirty="0">
                <a:cs typeface="Times New Roman" panose="02020603050405020304" pitchFamily="18" charset="0"/>
              </a:rPr>
              <a:t>ML vs DL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519F7C-4E9E-316D-7E1A-24E5D5681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Многие подходы интерпретации из классического </a:t>
            </a:r>
            <a:r>
              <a:rPr lang="en-US" sz="2800" dirty="0"/>
              <a:t>ML </a:t>
            </a:r>
            <a:r>
              <a:rPr lang="ru-RU" sz="2800" dirty="0"/>
              <a:t>могут ограниченно работать для </a:t>
            </a:r>
            <a:r>
              <a:rPr lang="en-US" dirty="0"/>
              <a:t>DL.</a:t>
            </a:r>
          </a:p>
          <a:p>
            <a:pPr marL="0" indent="0">
              <a:buNone/>
            </a:pPr>
            <a:r>
              <a:rPr lang="ru-RU" sz="2800" dirty="0"/>
              <a:t>Однако есть несколько ключевых отличи</a:t>
            </a:r>
            <a:r>
              <a:rPr lang="ru-RU" dirty="0"/>
              <a:t>й между </a:t>
            </a:r>
            <a:r>
              <a:rPr lang="en-US" dirty="0"/>
              <a:t>ML </a:t>
            </a:r>
            <a:r>
              <a:rPr lang="ru-RU" dirty="0"/>
              <a:t>и </a:t>
            </a:r>
            <a:r>
              <a:rPr lang="en-US" dirty="0"/>
              <a:t>DL:</a:t>
            </a:r>
          </a:p>
          <a:p>
            <a:r>
              <a:rPr lang="ru-RU" dirty="0"/>
              <a:t>Входы, как правило, имеют структуру (изображения, тексты, звук, …)</a:t>
            </a:r>
          </a:p>
          <a:p>
            <a:r>
              <a:rPr lang="ru-RU" sz="2800" dirty="0"/>
              <a:t>Тысячи или даже миллионы фичей (к пр. цветное фото 1920 </a:t>
            </a:r>
            <a:r>
              <a:rPr lang="en-US" sz="2800" dirty="0"/>
              <a:t>x 1080</a:t>
            </a:r>
            <a:r>
              <a:rPr lang="ru-RU" sz="2800" dirty="0"/>
              <a:t>)</a:t>
            </a:r>
          </a:p>
          <a:p>
            <a:r>
              <a:rPr lang="ru-RU" dirty="0"/>
              <a:t>Значимость отдельных фичей маленькая</a:t>
            </a:r>
          </a:p>
          <a:p>
            <a:r>
              <a:rPr lang="ru-RU" sz="2800" dirty="0"/>
              <a:t>Модели имеют огромное количество параметров</a:t>
            </a:r>
          </a:p>
          <a:p>
            <a:r>
              <a:rPr lang="en-US" dirty="0"/>
              <a:t>Task</a:t>
            </a:r>
            <a:r>
              <a:rPr lang="ru-RU" dirty="0"/>
              <a:t>-</a:t>
            </a:r>
            <a:r>
              <a:rPr lang="en-US" dirty="0"/>
              <a:t>specific </a:t>
            </a:r>
            <a:r>
              <a:rPr lang="ru-RU" dirty="0"/>
              <a:t>архитектуры моделей</a:t>
            </a:r>
            <a:endParaRPr lang="en-US" sz="28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60E8BC-AF6C-A517-1ADB-F31494169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5A525B-E5AD-267E-1F89-0E82E91D2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00230E-D2C5-7A74-171F-0DD3CEE6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257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8EF6-05A3-0B22-F4E6-A74F4C40B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BDA9FF-178F-AF26-1497-185F04CB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3</a:t>
            </a:r>
            <a:r>
              <a:rPr lang="en-US" dirty="0"/>
              <a:t>.</a:t>
            </a:r>
            <a:r>
              <a:rPr lang="ru-RU" dirty="0"/>
              <a:t>4</a:t>
            </a:r>
            <a:r>
              <a:rPr lang="en-US" dirty="0"/>
              <a:t>.</a:t>
            </a:r>
            <a:r>
              <a:rPr lang="ru-RU" dirty="0"/>
              <a:t> Как быть с </a:t>
            </a:r>
            <a:r>
              <a:rPr lang="en-US" dirty="0"/>
              <a:t>DL?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431594-5829-0F5A-390E-107B6348E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Т.к. многие данные имеют структуру того или иного вида, то часто сами данные для нас более интерпретируемы, чем в классическом </a:t>
            </a:r>
            <a:r>
              <a:rPr lang="en-US" dirty="0"/>
              <a:t>ML (</a:t>
            </a:r>
            <a:r>
              <a:rPr lang="ru-RU" dirty="0"/>
              <a:t>100 показателей	датчиков </a:t>
            </a:r>
            <a:r>
              <a:rPr lang="en-US" dirty="0"/>
              <a:t>vs </a:t>
            </a:r>
            <a:r>
              <a:rPr lang="ru-RU" dirty="0"/>
              <a:t>картинка из 6</a:t>
            </a:r>
            <a:r>
              <a:rPr lang="en-US" dirty="0"/>
              <a:t>.</a:t>
            </a:r>
            <a:r>
              <a:rPr lang="ru-RU" dirty="0"/>
              <a:t>220</a:t>
            </a:r>
            <a:r>
              <a:rPr lang="en-US" dirty="0"/>
              <a:t>.</a:t>
            </a:r>
            <a:r>
              <a:rPr lang="ru-RU" dirty="0"/>
              <a:t>800 фичей </a:t>
            </a:r>
            <a:r>
              <a:rPr lang="en-US" dirty="0"/>
              <a:t>[1920 x 1080 x 3])</a:t>
            </a:r>
            <a:r>
              <a:rPr lang="ru-RU" dirty="0"/>
              <a:t> – можем интерпретировать примерами.</a:t>
            </a:r>
          </a:p>
          <a:p>
            <a:pPr marL="0" indent="0">
              <a:buNone/>
            </a:pPr>
            <a:r>
              <a:rPr lang="ru-RU" dirty="0"/>
              <a:t>Однако интерпретация одной отдельной фичи сложнее.</a:t>
            </a:r>
          </a:p>
          <a:p>
            <a:pPr marL="0" indent="0">
              <a:buNone/>
            </a:pPr>
            <a:r>
              <a:rPr lang="ru-RU" sz="2800" dirty="0"/>
              <a:t>Промежуточные представления, как правило, так же имеют структуру – можем это использовать.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Нейросети большие, но мы не пытаемся оценить один конкретный вес, а всю модель целиком через активации на данных и градиенты (нужно уметь доставать из нейросети всё нам необходимое – больше на семинаре).</a:t>
            </a:r>
          </a:p>
          <a:p>
            <a:pPr marL="0" indent="0">
              <a:buNone/>
            </a:pPr>
            <a:r>
              <a:rPr lang="ru-RU" sz="2800" dirty="0"/>
              <a:t>Создание синтетических примеров возможно, но не очень просто.</a:t>
            </a:r>
            <a:endParaRPr lang="en-US" sz="28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40A182-F448-CF19-26F3-2C005539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BFC7FA-1E47-304A-10A8-F8A2098C7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7A01B8-0B4A-7BF2-0DAE-68433D3E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118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B6E0C2-EF43-1C42-2B17-2AB715AC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3</a:t>
            </a:r>
            <a:r>
              <a:rPr lang="en-US" dirty="0"/>
              <a:t>.5.</a:t>
            </a:r>
            <a:r>
              <a:rPr lang="ru-RU" dirty="0"/>
              <a:t> Линейные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36C767-477F-9023-5EB6-356582428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Хотим оценивать влияние входов на выходы.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Как и в </a:t>
            </a:r>
            <a:r>
              <a:rPr lang="en-US" dirty="0"/>
              <a:t>ML – </a:t>
            </a:r>
            <a:r>
              <a:rPr lang="ru-RU" dirty="0"/>
              <a:t>эффекты (вес </a:t>
            </a:r>
            <a:r>
              <a:rPr lang="en-US" dirty="0"/>
              <a:t>* </a:t>
            </a:r>
            <a:r>
              <a:rPr lang="ru-RU" dirty="0"/>
              <a:t>значение) очень легко интерпретируемы.</a:t>
            </a:r>
          </a:p>
          <a:p>
            <a:pPr marL="0" indent="0">
              <a:buNone/>
            </a:pPr>
            <a:r>
              <a:rPr lang="ru-RU" dirty="0"/>
              <a:t>Несколько линейных слоёв через активации</a:t>
            </a:r>
            <a:r>
              <a:rPr lang="en-US" dirty="0"/>
              <a:t>:</a:t>
            </a:r>
          </a:p>
          <a:p>
            <a:r>
              <a:rPr lang="ru-RU" dirty="0"/>
              <a:t>Можем честно посчитать вклад каждого входа (сложно, не всегда адекватно возможно)</a:t>
            </a:r>
          </a:p>
          <a:p>
            <a:r>
              <a:rPr lang="ru-RU" dirty="0"/>
              <a:t>Можем аппроксимировать меняя</a:t>
            </a:r>
            <a:r>
              <a:rPr lang="en-US" dirty="0"/>
              <a:t>/</a:t>
            </a:r>
            <a:r>
              <a:rPr lang="ru-RU" dirty="0"/>
              <a:t>подбирая входы</a:t>
            </a:r>
            <a:r>
              <a:rPr lang="en-US" dirty="0"/>
              <a:t> </a:t>
            </a:r>
            <a:r>
              <a:rPr lang="ru-RU" dirty="0"/>
              <a:t>и оценивая влияние на выходы (не очень грубая, но не всегда легко интерпретируемая аппроксимация)</a:t>
            </a:r>
          </a:p>
          <a:p>
            <a:r>
              <a:rPr lang="ru-RU" dirty="0"/>
              <a:t>Можем проигнорировать активации (грубая, но более легко интерпретируемая аппроксимация)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0071C0-5A00-09FD-3356-5EB119C3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0AAB1C-D64A-20F3-92C1-730EE5BF3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273CF8-E177-3431-5FA6-ADA395799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183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A2EA58-824E-1766-BEF8-0F7757784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3.5. Линейные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3FA414-5541-D729-6B7C-5BC0304F5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Пример грубой аппроксимации:</a:t>
            </a:r>
          </a:p>
          <a:p>
            <a:pPr marL="0" indent="0">
              <a:buNone/>
            </a:pPr>
            <a:r>
              <a:rPr lang="ru-RU" dirty="0"/>
              <a:t>Датасет – </a:t>
            </a:r>
            <a:r>
              <a:rPr lang="en-US" dirty="0" err="1"/>
              <a:t>Cifar</a:t>
            </a:r>
            <a:r>
              <a:rPr lang="en-US" dirty="0"/>
              <a:t> 10 (</a:t>
            </a:r>
            <a:r>
              <a:rPr lang="ru-RU" dirty="0"/>
              <a:t>картинки 32</a:t>
            </a:r>
            <a:r>
              <a:rPr lang="en-US" dirty="0"/>
              <a:t> x </a:t>
            </a:r>
            <a:r>
              <a:rPr lang="ru-RU" dirty="0"/>
              <a:t>32</a:t>
            </a:r>
            <a:r>
              <a:rPr lang="en-US" dirty="0"/>
              <a:t> x 3 </a:t>
            </a:r>
            <a:r>
              <a:rPr lang="ru-RU" dirty="0"/>
              <a:t>из 10 классов)</a:t>
            </a:r>
          </a:p>
          <a:p>
            <a:pPr marL="0" indent="0">
              <a:buNone/>
            </a:pPr>
            <a:r>
              <a:rPr lang="ru-RU" dirty="0"/>
              <a:t>Модель – 4-слойная линейная нейросеть над всеми пикселями как фичами (без учёта структуры)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96295D-007F-06E9-16A1-49035388F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FAC36-46FC-D2AC-25E2-C1496001F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E078F6-CC8D-49C9-250B-8651EAE7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19</a:t>
            </a:fld>
            <a:endParaRPr lang="ru-RU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79EE7CC-100F-479A-EFE5-9DC3D5ADA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268" y="2781368"/>
            <a:ext cx="7853071" cy="357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283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09AAD-FE26-6EDD-4261-E4AE79293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4. </a:t>
            </a:r>
            <a:r>
              <a:rPr lang="en-US" dirty="0"/>
              <a:t>CV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A8A91F-735F-C09E-2A01-7F64E05BD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Receptive field</a:t>
            </a:r>
          </a:p>
          <a:p>
            <a:r>
              <a:rPr lang="en-US" dirty="0"/>
              <a:t>Deconvolutional network</a:t>
            </a:r>
          </a:p>
          <a:p>
            <a:r>
              <a:rPr lang="en-US" dirty="0"/>
              <a:t>Gradient-based</a:t>
            </a:r>
          </a:p>
          <a:p>
            <a:r>
              <a:rPr lang="en-US" dirty="0"/>
              <a:t>Guided Backpropagation</a:t>
            </a:r>
          </a:p>
          <a:p>
            <a:r>
              <a:rPr lang="en-US" dirty="0"/>
              <a:t>Class Activation Mapping (CAM)</a:t>
            </a:r>
          </a:p>
          <a:p>
            <a:r>
              <a:rPr lang="en-US" dirty="0"/>
              <a:t>Grad-CAM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0125A9-B8F6-A5E7-6C9A-975B9455F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68BED8-2014-340C-1B45-AB48DAF06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D5784A-A472-AD5A-0E85-2064A496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837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F6A0B-639B-A662-5CC5-071596B91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84955-1B10-3393-9908-9F2B4E3D3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4.1.</a:t>
            </a:r>
            <a:r>
              <a:rPr lang="ru-RU" dirty="0"/>
              <a:t> </a:t>
            </a:r>
            <a:r>
              <a:rPr lang="en-US" dirty="0"/>
              <a:t>Receptive field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45BC49-E310-DFD9-B8F3-BE00D382A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Имея представление о </a:t>
            </a:r>
            <a:r>
              <a:rPr lang="en-US" dirty="0"/>
              <a:t>receptive field </a:t>
            </a:r>
            <a:r>
              <a:rPr lang="ru-RU" dirty="0"/>
              <a:t>нашей модели на каждом слое – можем оценивать какие кусочки изображения привели к активации тех или иных фильтров.</a:t>
            </a:r>
          </a:p>
          <a:p>
            <a:pPr marL="0" indent="0">
              <a:buNone/>
            </a:pPr>
            <a:r>
              <a:rPr lang="ru-RU" dirty="0"/>
              <a:t>Не даст нам полной картины, но может дать инсайд на внутренности модельки.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B4D9A0-FB07-7E9D-9C17-19AB7B613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83F2CA-E2A5-4D77-B506-21A14161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929EFF-21F0-CE16-AD42-AE36D239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21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568CF5E-39DA-EF29-6140-F9E15C127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83" y="2911097"/>
            <a:ext cx="11165633" cy="249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21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BB1D0-FC0F-D933-483F-3D96A88C6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AE40F-03DD-56ED-5E94-5A1EB69C5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4.1.</a:t>
            </a:r>
            <a:r>
              <a:rPr lang="ru-RU" dirty="0"/>
              <a:t> </a:t>
            </a:r>
            <a:r>
              <a:rPr lang="en-US" dirty="0"/>
              <a:t>Receptive field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53800B-4CC0-3193-E333-12C78865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AA396F-3345-3C6D-AF6B-9C4514141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BD3FE9-CBD8-BB22-FD99-9BF4339E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22</a:t>
            </a:fld>
            <a:endParaRPr lang="ru-RU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B31784F0-2DC0-CCB4-FA84-5403B2109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815"/>
            <a:ext cx="5152053" cy="489914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Примеры картинок, полученных как прямое усреднение первых </a:t>
            </a:r>
            <a:r>
              <a:rPr lang="en-US" dirty="0"/>
              <a:t>N </a:t>
            </a:r>
            <a:r>
              <a:rPr lang="ru-RU" dirty="0" err="1"/>
              <a:t>кропов</a:t>
            </a:r>
            <a:r>
              <a:rPr lang="ru-RU" dirty="0"/>
              <a:t> изображений, максимально активировавших соответствующее ядро</a:t>
            </a:r>
          </a:p>
        </p:txBody>
      </p:sp>
      <p:pic>
        <p:nvPicPr>
          <p:cNvPr id="11" name="Объект 6">
            <a:extLst>
              <a:ext uri="{FF2B5EF4-FFF2-40B4-BE49-F238E27FC236}">
                <a16:creationId xmlns:a16="http://schemas.microsoft.com/office/drawing/2014/main" id="{54B9E97D-4D6E-36F5-1D4C-92FF1716F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751" y="136525"/>
            <a:ext cx="4404049" cy="639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20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E9D41-E5D0-9B61-4496-520C75E41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9F650F-1B12-5428-B7EA-63678F786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4.2.</a:t>
            </a:r>
            <a:r>
              <a:rPr lang="ru-RU" dirty="0"/>
              <a:t> </a:t>
            </a:r>
            <a:r>
              <a:rPr lang="en-US" dirty="0"/>
              <a:t>Deconvolutional network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7885F4-2248-E84D-E362-0CB548DF1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77815"/>
            <a:ext cx="6375160" cy="489914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Хотим по выходу свёртки восстанавливать кусочки изображения, наиболее активировавшие данное ядро.</a:t>
            </a:r>
          </a:p>
          <a:p>
            <a:pPr marL="0" indent="0">
              <a:buNone/>
            </a:pPr>
            <a:r>
              <a:rPr lang="ru-RU" dirty="0"/>
              <a:t>Операция </a:t>
            </a:r>
            <a:r>
              <a:rPr lang="en-US" dirty="0" err="1"/>
              <a:t>deconv</a:t>
            </a:r>
            <a:r>
              <a:rPr lang="en-US" dirty="0"/>
              <a:t>, </a:t>
            </a:r>
            <a:r>
              <a:rPr lang="ru-RU" dirty="0"/>
              <a:t>которую позже переименовали в </a:t>
            </a:r>
            <a:r>
              <a:rPr lang="en-US" dirty="0"/>
              <a:t>conv2d_transpose (</a:t>
            </a:r>
            <a:r>
              <a:rPr lang="ru-RU" dirty="0"/>
              <a:t>более честное название).</a:t>
            </a:r>
          </a:p>
          <a:p>
            <a:pPr marL="0" indent="0">
              <a:buNone/>
            </a:pPr>
            <a:r>
              <a:rPr lang="en-US" dirty="0"/>
              <a:t>Pooling </a:t>
            </a:r>
            <a:r>
              <a:rPr lang="ru-RU" dirty="0"/>
              <a:t>инвертируем, используя позицию, на которой нашли максимум (если </a:t>
            </a:r>
            <a:r>
              <a:rPr lang="en-US" dirty="0" err="1"/>
              <a:t>MaxPooling</a:t>
            </a:r>
            <a:r>
              <a:rPr lang="en-US" dirty="0"/>
              <a:t>).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C84A73-1613-1E94-DF60-6E1938D2D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23F8EC-6AFB-5E19-DEF0-76BCD8F8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CFD769-51AC-263B-31E4-BF1E2FEFB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23</a:t>
            </a:fld>
            <a:endParaRPr lang="ru-RU"/>
          </a:p>
        </p:txBody>
      </p:sp>
      <p:pic>
        <p:nvPicPr>
          <p:cNvPr id="3074" name="Picture 2" descr="Deconvnet approach for the saliency map visualization.">
            <a:extLst>
              <a:ext uri="{FF2B5EF4-FFF2-40B4-BE49-F238E27FC236}">
                <a16:creationId xmlns:a16="http://schemas.microsoft.com/office/drawing/2014/main" id="{07403DC7-807A-08BB-66EC-72AC31FEA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361" y="248988"/>
            <a:ext cx="4597639" cy="624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819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E699D-668F-209A-2499-9DC46313E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FBD40B-ABF4-2FB8-EC99-4D4698527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4.2.</a:t>
            </a:r>
            <a:r>
              <a:rPr lang="ru-RU" dirty="0"/>
              <a:t> </a:t>
            </a:r>
            <a:r>
              <a:rPr lang="en-US" dirty="0"/>
              <a:t>Deconvolutional network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4871E3-ACC7-9950-5F76-A0EF58A2A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261767-DC1A-FB00-6B23-D128EC22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F3F570-14DA-E0B8-00FE-3D1C24FB8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24</a:t>
            </a:fld>
            <a:endParaRPr lang="ru-R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F250272-9060-A4DB-58AF-AF7460A810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761" y="1101970"/>
            <a:ext cx="9444477" cy="538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077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7C91D2-1678-947F-C69B-4132FC726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4.2.</a:t>
            </a:r>
            <a:r>
              <a:rPr lang="ru-RU" dirty="0"/>
              <a:t> </a:t>
            </a:r>
            <a:r>
              <a:rPr lang="en-US" dirty="0"/>
              <a:t>Deconvolutional network</a:t>
            </a:r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A8C66852-3C11-568C-3016-95D8AE60F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33280"/>
            <a:ext cx="10515600" cy="3988340"/>
          </a:xfrm>
        </p:spPr>
      </p:pic>
      <p:sp>
        <p:nvSpPr>
          <p:cNvPr id="4" name="Дата 3">
            <a:extLst>
              <a:ext uri="{FF2B5EF4-FFF2-40B4-BE49-F238E27FC236}">
                <a16:creationId xmlns:a16="http://schemas.microsoft.com/office/drawing/2014/main" id="{9D85001A-2C5C-BF7E-9A9D-04124A734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3E43A4-782A-D63A-A671-61647537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61B9B9-6E75-583D-DC06-34FD1E32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25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042BA8-DAF6-D78B-772A-7943C9647283}"/>
              </a:ext>
            </a:extLst>
          </p:cNvPr>
          <p:cNvSpPr txBox="1"/>
          <p:nvPr/>
        </p:nvSpPr>
        <p:spPr>
          <a:xfrm>
            <a:off x="7414727" y="533493"/>
            <a:ext cx="4633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linkClick r:id="rId3"/>
              </a:rPr>
              <a:t>Visualizing and Understanding Convolutional Networks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36783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E52D2-30D9-84A3-B72B-730691875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51E6D4-A8D5-EA38-EF10-C109B3B8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4.3.</a:t>
            </a:r>
            <a:r>
              <a:rPr lang="ru-RU" dirty="0"/>
              <a:t> </a:t>
            </a:r>
            <a:r>
              <a:rPr lang="en-US" dirty="0"/>
              <a:t>Gradient-based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536B27-CE80-BA8C-8666-7797FB5F5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815"/>
            <a:ext cx="4374794" cy="489914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Возьмём предобученную нейросеть, заморозим все слои и будем </a:t>
            </a:r>
            <a:r>
              <a:rPr lang="en-US" dirty="0"/>
              <a:t>“</a:t>
            </a:r>
            <a:r>
              <a:rPr lang="ru-RU" dirty="0"/>
              <a:t>обучать</a:t>
            </a:r>
            <a:r>
              <a:rPr lang="en-US" dirty="0"/>
              <a:t>”</a:t>
            </a:r>
            <a:r>
              <a:rPr lang="ru-RU" dirty="0"/>
              <a:t> изображение для максимизации конкретного класса.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5F1D7-2DB7-E5AE-D8E1-A55D802D3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F68B58-03E6-A7C4-E756-CAD2BA9A3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F2DA05-BC77-1A61-5674-36F86D61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26</a:t>
            </a:fld>
            <a:endParaRPr lang="ru-RU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04839FD-A7EB-51B5-D696-DBF0F21FB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994" y="1277815"/>
            <a:ext cx="6924553" cy="489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8087B9-2C95-0DF9-2E86-F9BA171A9BFD}"/>
              </a:ext>
            </a:extLst>
          </p:cNvPr>
          <p:cNvSpPr txBox="1"/>
          <p:nvPr/>
        </p:nvSpPr>
        <p:spPr>
          <a:xfrm>
            <a:off x="7022842" y="410382"/>
            <a:ext cx="4285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linkClick r:id="rId3"/>
              </a:rPr>
              <a:t>Deep Inside Convolutional Networks: </a:t>
            </a:r>
            <a:r>
              <a:rPr lang="en-US" sz="2000" dirty="0" err="1">
                <a:hlinkClick r:id="rId3"/>
              </a:rPr>
              <a:t>Visualising</a:t>
            </a:r>
            <a:r>
              <a:rPr lang="ru-RU" sz="2000" dirty="0">
                <a:hlinkClick r:id="rId3"/>
              </a:rPr>
              <a:t> </a:t>
            </a:r>
            <a:r>
              <a:rPr lang="en-US" sz="2000" dirty="0">
                <a:hlinkClick r:id="rId3"/>
              </a:rPr>
              <a:t>Image Classification Models and Saliency Maps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341682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EAB22-B07A-93F7-7073-ADF02966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62410-EDB9-0E98-2F07-A2673BFE5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4.4.</a:t>
            </a:r>
            <a:r>
              <a:rPr lang="ru-RU" dirty="0"/>
              <a:t> </a:t>
            </a:r>
            <a:r>
              <a:rPr lang="en-US" dirty="0"/>
              <a:t>Guided Backpropagation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D57DC5-1E8A-7B63-39B9-DD7DF82BA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46EEE7-0549-ABCF-7CD7-CF5BCF6A1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AE2FE4-C537-A2DF-99A2-DE0C25299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27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2D8755-A87B-C059-CEE0-CFD22235D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815"/>
            <a:ext cx="3200400" cy="489914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Делаем прямой проход через нейросеть, затем </a:t>
            </a:r>
            <a:r>
              <a:rPr lang="ru-RU" dirty="0" err="1"/>
              <a:t>зануляем</a:t>
            </a:r>
            <a:r>
              <a:rPr lang="ru-RU" dirty="0"/>
              <a:t> не интересующие нас нейроны.</a:t>
            </a:r>
          </a:p>
          <a:p>
            <a:pPr marL="0" indent="0">
              <a:buNone/>
            </a:pPr>
            <a:r>
              <a:rPr lang="ru-RU" dirty="0"/>
              <a:t>Делаем обратный проход от карты активаций со всеми нулями, кроме одного.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AD02428-E468-FB49-A58A-4F8E7159B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050" y="1564612"/>
            <a:ext cx="7992699" cy="37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38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CDC0B-75AA-3C9D-10A6-F0E1FDA6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EC3786-E00E-1A7E-EC10-0D2F657BB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4.4.</a:t>
            </a:r>
            <a:r>
              <a:rPr lang="ru-RU" dirty="0"/>
              <a:t> </a:t>
            </a:r>
            <a:r>
              <a:rPr lang="en-US" dirty="0"/>
              <a:t>Guided Backpropagation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3DA49B-E796-56FD-F2E8-C782C88F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DFA1FE-F381-4DCB-7A20-61FF7497E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0788FE-87C6-6334-60F2-24FF2D7E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28</a:t>
            </a:fld>
            <a:endParaRPr lang="ru-RU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1F0835E-FA26-C278-AD71-96CCFB6F7C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017" y="1101970"/>
            <a:ext cx="8956467" cy="539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08AB34-D506-C4FF-030E-A296F12887BD}"/>
              </a:ext>
            </a:extLst>
          </p:cNvPr>
          <p:cNvSpPr txBox="1"/>
          <p:nvPr/>
        </p:nvSpPr>
        <p:spPr>
          <a:xfrm>
            <a:off x="7756848" y="532031"/>
            <a:ext cx="4027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linkClick r:id="rId3"/>
              </a:rPr>
              <a:t>Striving for Simplicity: The All Convolutional Net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388557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BE8F5-27DC-CCA7-8FF4-36571EA16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AE983-832B-5DC3-6773-C9E11B2DB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4.5.</a:t>
            </a:r>
            <a:r>
              <a:rPr lang="ru-RU" dirty="0"/>
              <a:t> </a:t>
            </a:r>
            <a:r>
              <a:rPr lang="en-US" dirty="0"/>
              <a:t>Class Activation Mapping (CAM)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C735C6-21AC-F293-B0AA-804C3EFA3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815"/>
            <a:ext cx="4573130" cy="489914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Смотрим какие части изображения активируют соответствующий нейрон.</a:t>
            </a:r>
          </a:p>
          <a:p>
            <a:pPr marL="0" indent="0">
              <a:buNone/>
            </a:pPr>
            <a:r>
              <a:rPr lang="ru-RU" dirty="0"/>
              <a:t>Усредняем </a:t>
            </a:r>
            <a:r>
              <a:rPr lang="en-US" dirty="0"/>
              <a:t>feature-map-</a:t>
            </a:r>
            <a:r>
              <a:rPr lang="ru-RU" dirty="0"/>
              <a:t>ы с весами, соответствующими их вклад в финальное изображение.</a:t>
            </a:r>
          </a:p>
          <a:p>
            <a:pPr marL="0" indent="0">
              <a:buNone/>
            </a:pPr>
            <a:r>
              <a:rPr lang="ru-RU" dirty="0"/>
              <a:t>Визуализируем через </a:t>
            </a:r>
            <a:r>
              <a:rPr lang="en-US" dirty="0"/>
              <a:t>heat-map</a:t>
            </a:r>
            <a:r>
              <a:rPr lang="ru-RU" dirty="0"/>
              <a:t>-ы поверх картинок.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53D915-EA6E-9DFC-6A2D-4C262166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819077-8CBA-78CB-6160-83AD1204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BC2CF9-9C56-D575-77E4-DD1F7B8A5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29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3A1DE-A1E2-0C93-7678-446DAA05045A}"/>
              </a:ext>
            </a:extLst>
          </p:cNvPr>
          <p:cNvSpPr txBox="1"/>
          <p:nvPr/>
        </p:nvSpPr>
        <p:spPr>
          <a:xfrm>
            <a:off x="9056914" y="379605"/>
            <a:ext cx="29920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linkClick r:id="rId2"/>
              </a:rPr>
              <a:t>Learning Deep Features for Discriminative Localization</a:t>
            </a:r>
            <a:endParaRPr lang="ru-RU" sz="2000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C0C716E0-9682-B27F-9618-C076B43A1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330" y="1244024"/>
            <a:ext cx="6637601" cy="436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3635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1C2CB-7141-8D80-E40F-D8ABD24F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82AD4-32A9-5116-2BF1-9E68B1040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4.6.</a:t>
            </a:r>
            <a:r>
              <a:rPr lang="ru-RU" dirty="0"/>
              <a:t> </a:t>
            </a:r>
            <a:r>
              <a:rPr lang="en-US" dirty="0"/>
              <a:t>Grad-CAM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57A8EB-4544-54AE-10D5-E32DBF399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DA0D94-2219-3DC8-AA6A-8B290D7F7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6F0263-62D1-4E51-5156-4C339C5F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30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88755-37ED-6FF9-8FF6-AEE1AC74D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037" y="1277815"/>
            <a:ext cx="3949501" cy="489914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Вместо </a:t>
            </a:r>
            <a:r>
              <a:rPr lang="en-US" dirty="0"/>
              <a:t>forward </a:t>
            </a:r>
            <a:r>
              <a:rPr lang="ru-RU" dirty="0"/>
              <a:t>прохода как в </a:t>
            </a:r>
            <a:r>
              <a:rPr lang="en-US" dirty="0"/>
              <a:t>CAM </a:t>
            </a:r>
            <a:r>
              <a:rPr lang="ru-RU" dirty="0"/>
              <a:t>используют градиенты относительно одного класса выхода.</a:t>
            </a:r>
          </a:p>
          <a:p>
            <a:pPr marL="0" indent="0">
              <a:buNone/>
            </a:pPr>
            <a:r>
              <a:rPr lang="ru-RU" dirty="0"/>
              <a:t>Усредняют </a:t>
            </a:r>
            <a:r>
              <a:rPr lang="en-US" dirty="0"/>
              <a:t>feature-map-</a:t>
            </a:r>
            <a:r>
              <a:rPr lang="ru-RU" dirty="0"/>
              <a:t>ы, используя усреднённые по </a:t>
            </a:r>
            <a:r>
              <a:rPr lang="en-US" dirty="0"/>
              <a:t>H, W </a:t>
            </a:r>
            <a:r>
              <a:rPr lang="ru-RU" dirty="0"/>
              <a:t>градиенты, а не чисто веса.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47812F9-83CC-7436-62D0-581E2C9AA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539" y="1501798"/>
            <a:ext cx="7897722" cy="44511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29F2F1-37D4-9B36-DDC3-1A9A91DC97AD}"/>
              </a:ext>
            </a:extLst>
          </p:cNvPr>
          <p:cNvSpPr txBox="1"/>
          <p:nvPr/>
        </p:nvSpPr>
        <p:spPr>
          <a:xfrm>
            <a:off x="6400802" y="379605"/>
            <a:ext cx="42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linkClick r:id="rId3"/>
              </a:rPr>
              <a:t>Grad-CAM: Visual Explanations from Deep Networks via Gradient-based Localization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749359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152D0-6A02-D72C-1858-2CD4E760E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5</a:t>
            </a:r>
            <a:r>
              <a:rPr lang="en-US" dirty="0"/>
              <a:t>. NLP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1E162A-843B-9391-5C9B-858E01917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Интерпретируемые эмбеддинги</a:t>
            </a:r>
            <a:endParaRPr lang="en-US" dirty="0"/>
          </a:p>
          <a:p>
            <a:r>
              <a:rPr lang="en-US" dirty="0"/>
              <a:t>RNN-like</a:t>
            </a:r>
          </a:p>
          <a:p>
            <a:r>
              <a:rPr lang="en-US" dirty="0"/>
              <a:t>Attention</a:t>
            </a:r>
            <a:r>
              <a:rPr lang="ru-RU" dirty="0"/>
              <a:t> и </a:t>
            </a:r>
            <a:r>
              <a:rPr lang="en-US" dirty="0"/>
              <a:t>Transformer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F1694F-01BC-AF3C-32C6-8AE3C37E6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2FFE6A-5487-1940-779C-6A01A3179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3C7CB7-7C99-6498-DFA7-1CF38DDD6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467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5EA99-89E0-C126-7398-3C0FAEEF7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F539B8-11AE-0702-A04D-6ED6B6C4A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5.1.</a:t>
            </a:r>
            <a:r>
              <a:rPr lang="ru-RU" dirty="0"/>
              <a:t> Интерпретируемые эмбеддинги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5642D8-22DE-AC12-0759-D10D009DC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815"/>
            <a:ext cx="10515600" cy="90554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Часто получаемые эмбеддинги текстов хорошо </a:t>
            </a:r>
            <a:r>
              <a:rPr lang="ru-RU" dirty="0" err="1"/>
              <a:t>кластеризуются</a:t>
            </a:r>
            <a:r>
              <a:rPr lang="ru-RU" dirty="0"/>
              <a:t>, отвечают базовым математическим операциям.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A30561-2DC3-0C4B-8C10-FD2099129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D4125B-057E-C27F-D5DC-E5D8F2B7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6E9B77-FD60-EABD-7FAC-B08E21D06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32</a:t>
            </a:fld>
            <a:endParaRPr lang="ru-RU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C1329EA-BA40-68CD-227F-746A950EF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24" y="2183363"/>
            <a:ext cx="11782551" cy="4172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8370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61E01-771E-C208-8139-36763AD50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688935-6AFE-3452-5975-FBC21864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5.2.</a:t>
            </a:r>
            <a:r>
              <a:rPr lang="ru-RU" dirty="0"/>
              <a:t> </a:t>
            </a:r>
            <a:r>
              <a:rPr lang="en-US" dirty="0"/>
              <a:t>RNN-like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E76FD6-C789-52D7-E5B6-F3C525F50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 большому счёту – два линейных слоя (перенос информации от входа к скрытому и сквозь время).</a:t>
            </a:r>
          </a:p>
          <a:p>
            <a:pPr marL="0" indent="0">
              <a:buNone/>
            </a:pPr>
            <a:r>
              <a:rPr lang="ru-RU" dirty="0"/>
              <a:t>Т.к. линейные слои легко интерпретируемы, то и здесь получается довольно лёгкая интерпретация, просто требующая много шагов (как для многослойной линейной нейросети).</a:t>
            </a:r>
          </a:p>
          <a:p>
            <a:pPr marL="0" indent="0">
              <a:buNone/>
            </a:pPr>
            <a:r>
              <a:rPr lang="en-US" dirty="0"/>
              <a:t>LSTM </a:t>
            </a:r>
            <a:r>
              <a:rPr lang="ru-RU" dirty="0"/>
              <a:t>и </a:t>
            </a:r>
            <a:r>
              <a:rPr lang="en-US" dirty="0"/>
              <a:t>GRU </a:t>
            </a:r>
            <a:r>
              <a:rPr lang="ru-RU" dirty="0"/>
              <a:t>так же легко интерпретируемы относительно интуиции архитектуры (забываем что-то, даём на выход что-то, записываем в память что-то).</a:t>
            </a:r>
          </a:p>
          <a:p>
            <a:pPr marL="0" indent="0">
              <a:buNone/>
            </a:pPr>
            <a:r>
              <a:rPr lang="ru-RU" dirty="0"/>
              <a:t>Т.к. фичами для </a:t>
            </a:r>
            <a:r>
              <a:rPr lang="en-US" dirty="0"/>
              <a:t>RNN-like </a:t>
            </a:r>
            <a:r>
              <a:rPr lang="ru-RU" dirty="0"/>
              <a:t>сети являются скорее элементы </a:t>
            </a:r>
            <a:r>
              <a:rPr lang="ru-RU" dirty="0" err="1"/>
              <a:t>эмбеддингов</a:t>
            </a:r>
            <a:r>
              <a:rPr lang="ru-RU" dirty="0"/>
              <a:t>, то для интерпретации </a:t>
            </a:r>
            <a:r>
              <a:rPr lang="en-US" dirty="0"/>
              <a:t>RNN-like </a:t>
            </a:r>
            <a:r>
              <a:rPr lang="ru-RU" dirty="0"/>
              <a:t>сетей важна интерпретируемость </a:t>
            </a:r>
            <a:r>
              <a:rPr lang="ru-RU" dirty="0" err="1"/>
              <a:t>эмбеддингов</a:t>
            </a:r>
            <a:r>
              <a:rPr lang="ru-RU" dirty="0"/>
              <a:t>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0C79C1-67CC-94FC-1B21-260F4BB1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798844-F344-C1C1-64BF-20FB689FE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96BF6C-7BF4-90B1-2C82-C9B0A4979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43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B7B0D-B214-576F-1C2C-5F82983B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7AE6E5-3D26-1395-9E00-7F0BBA1D4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5.3.</a:t>
            </a:r>
            <a:r>
              <a:rPr lang="ru-RU" dirty="0"/>
              <a:t> </a:t>
            </a:r>
            <a:r>
              <a:rPr lang="en-US" dirty="0"/>
              <a:t>Attention </a:t>
            </a:r>
            <a:r>
              <a:rPr lang="ru-RU" dirty="0"/>
              <a:t>и </a:t>
            </a:r>
            <a:r>
              <a:rPr lang="en-US" dirty="0"/>
              <a:t>Transformer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CD93D1-A9FF-5ADF-FD85-A008B5FA7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силу архитектуры </a:t>
            </a:r>
            <a:r>
              <a:rPr lang="en-US" dirty="0"/>
              <a:t>Attention-</a:t>
            </a:r>
            <a:r>
              <a:rPr lang="ru-RU" dirty="0"/>
              <a:t>механизма у вас есть явная компонента, отвечающая за вес того или иного токена входа.</a:t>
            </a:r>
          </a:p>
          <a:p>
            <a:pPr marL="0" indent="0">
              <a:buNone/>
            </a:pPr>
            <a:r>
              <a:rPr lang="ru-RU" dirty="0"/>
              <a:t>На каждом шаге токен агрегирует в себе информацию из нескольких токенов с весами.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B2F058-7D1B-80B9-94BD-BA4742E1C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04.03.2025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027DB0-AF93-CAF7-15A4-361D8757F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лекция 4 (Интерпретация Нейросетей)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22B072-7FE6-4E42-37A9-2C811A122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E3FE-E5A1-4FC4-A881-7F7728D688B8}" type="slidenum">
              <a:rPr lang="ru-RU" smtClean="0"/>
              <a:t>34</a:t>
            </a:fld>
            <a:endParaRPr lang="ru-RU"/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F62D7F0B-42B3-0324-A549-B087B799B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420" y="2606351"/>
            <a:ext cx="9139160" cy="388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8102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2">
      <a:majorFont>
        <a:latin typeface="Comic Sans MS"/>
        <a:ea typeface=""/>
        <a:cs typeface=""/>
      </a:majorFont>
      <a:minorFont>
        <a:latin typeface="Gabriol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6177</TotalTime>
  <Words>1959</Words>
  <Application>Microsoft Macintosh PowerPoint</Application>
  <PresentationFormat>Широкоэкранный</PresentationFormat>
  <Paragraphs>282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2" baseType="lpstr">
      <vt:lpstr>Arial</vt:lpstr>
      <vt:lpstr>Calibri</vt:lpstr>
      <vt:lpstr>Comic Sans MS</vt:lpstr>
      <vt:lpstr>Gabriola</vt:lpstr>
      <vt:lpstr>Helvetica Neue</vt:lpstr>
      <vt:lpstr>Times New Roman</vt:lpstr>
      <vt:lpstr>Тема Office</vt:lpstr>
      <vt:lpstr>Интерпретация Нейросетей</vt:lpstr>
      <vt:lpstr>План лекции</vt:lpstr>
      <vt:lpstr>1. Интерпретация</vt:lpstr>
      <vt:lpstr>1.1. Интерпретируемость</vt:lpstr>
      <vt:lpstr>1.2. Почему важно?</vt:lpstr>
      <vt:lpstr>1.3. Всегда ли нужна?</vt:lpstr>
      <vt:lpstr>1.4. Объяснимость</vt:lpstr>
      <vt:lpstr>2. В общем случае</vt:lpstr>
      <vt:lpstr>2.1. Свойства методов объяснения</vt:lpstr>
      <vt:lpstr>2.2. Свойства отдельных объяснений</vt:lpstr>
      <vt:lpstr>2.2. Свойства отдельных объяснений (ещё)</vt:lpstr>
      <vt:lpstr>2.3. Что хотим объяснять?</vt:lpstr>
      <vt:lpstr>2.4. Как будем объяснять?</vt:lpstr>
      <vt:lpstr>3. От ML к DL</vt:lpstr>
      <vt:lpstr>3.1. Интерпретируемые модели</vt:lpstr>
      <vt:lpstr>3.2. Как быть с ML?</vt:lpstr>
      <vt:lpstr>3.3. ML vs DL</vt:lpstr>
      <vt:lpstr>3.4. Как быть с DL?</vt:lpstr>
      <vt:lpstr>3.5. Линейные модели</vt:lpstr>
      <vt:lpstr>3.5. Линейные модели</vt:lpstr>
      <vt:lpstr>4. CV</vt:lpstr>
      <vt:lpstr>4.1. Receptive field</vt:lpstr>
      <vt:lpstr>4.1. Receptive field</vt:lpstr>
      <vt:lpstr>4.2. Deconvolutional network</vt:lpstr>
      <vt:lpstr>4.2. Deconvolutional network</vt:lpstr>
      <vt:lpstr>4.2. Deconvolutional network</vt:lpstr>
      <vt:lpstr>4.3. Gradient-based</vt:lpstr>
      <vt:lpstr>4.4. Guided Backpropagation</vt:lpstr>
      <vt:lpstr>4.4. Guided Backpropagation</vt:lpstr>
      <vt:lpstr>4.5. Class Activation Mapping (CAM)</vt:lpstr>
      <vt:lpstr>4.6. Grad-CAM</vt:lpstr>
      <vt:lpstr>5. NLP</vt:lpstr>
      <vt:lpstr>5.1. Интерпретируемые эмбеддинги</vt:lpstr>
      <vt:lpstr>5.2. RNN-like</vt:lpstr>
      <vt:lpstr>5.3. Attention и Transformer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Нейросети</dc:title>
  <dc:creator>Anton Naumov</dc:creator>
  <cp:lastModifiedBy>Microsoft Office User</cp:lastModifiedBy>
  <cp:revision>39</cp:revision>
  <dcterms:created xsi:type="dcterms:W3CDTF">2023-02-11T10:27:16Z</dcterms:created>
  <dcterms:modified xsi:type="dcterms:W3CDTF">2025-03-04T14:28:17Z</dcterms:modified>
</cp:coreProperties>
</file>